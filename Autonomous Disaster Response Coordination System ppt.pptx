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handoutMasterIdLst>
    <p:handoutMasterId r:id="rId27"/>
  </p:handoutMasterIdLst>
  <p:sldIdLst>
    <p:sldId id="257" r:id="rId5"/>
    <p:sldId id="258" r:id="rId6"/>
    <p:sldId id="291" r:id="rId7"/>
    <p:sldId id="290" r:id="rId8"/>
    <p:sldId id="261" r:id="rId9"/>
    <p:sldId id="292" r:id="rId10"/>
    <p:sldId id="285" r:id="rId11"/>
    <p:sldId id="294" r:id="rId12"/>
    <p:sldId id="295" r:id="rId13"/>
    <p:sldId id="296" r:id="rId14"/>
    <p:sldId id="297" r:id="rId15"/>
    <p:sldId id="274" r:id="rId16"/>
    <p:sldId id="298" r:id="rId17"/>
    <p:sldId id="299" r:id="rId18"/>
    <p:sldId id="300" r:id="rId19"/>
    <p:sldId id="301" r:id="rId20"/>
    <p:sldId id="302" r:id="rId21"/>
    <p:sldId id="303" r:id="rId22"/>
    <p:sldId id="281" r:id="rId23"/>
    <p:sldId id="305" r:id="rId24"/>
    <p:sldId id="304" r:id="rId2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79" autoAdjust="0"/>
  </p:normalViewPr>
  <p:slideViewPr>
    <p:cSldViewPr showGuides="1">
      <p:cViewPr varScale="1">
        <p:scale>
          <a:sx n="93" d="100"/>
          <a:sy n="93" d="100"/>
        </p:scale>
        <p:origin x="302" y="77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6/2/2026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6/2/2026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5424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getbootstrap.com/docs/5.3/" TargetMode="External"/><Relationship Id="rId13" Type="http://schemas.openxmlformats.org/officeDocument/2006/relationships/hyperlink" Target="https://developer.mozilla.org/en-US/docs/Web/API/Web_Speech_API" TargetMode="External"/><Relationship Id="rId3" Type="http://schemas.openxmlformats.org/officeDocument/2006/relationships/hyperlink" Target="https://pymongo.readthedocs.io/en/stable/" TargetMode="External"/><Relationship Id="rId7" Type="http://schemas.openxmlformats.org/officeDocument/2006/relationships/hyperlink" Target="https://leafletjs.com/reference.html" TargetMode="External"/><Relationship Id="rId12" Type="http://schemas.openxmlformats.org/officeDocument/2006/relationships/hyperlink" Target="https://artskydj.github.io/jsPDF/docs/" TargetMode="External"/><Relationship Id="rId2" Type="http://schemas.openxmlformats.org/officeDocument/2006/relationships/hyperlink" Target="https://flask.palletsprojects.com/en/3.0.x/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openweathermap.org/api/one-call-3" TargetMode="External"/><Relationship Id="rId11" Type="http://schemas.openxmlformats.org/officeDocument/2006/relationships/hyperlink" Target="https://www.chartjs.org/docs/latest/" TargetMode="External"/><Relationship Id="rId5" Type="http://schemas.openxmlformats.org/officeDocument/2006/relationships/hyperlink" Target="https://llama.meta.com/llama3/" TargetMode="External"/><Relationship Id="rId15" Type="http://schemas.openxmlformats.org/officeDocument/2006/relationships/hyperlink" Target="https://ndma.gov.in/" TargetMode="External"/><Relationship Id="rId10" Type="http://schemas.openxmlformats.org/officeDocument/2006/relationships/hyperlink" Target="https://pyauth.github.io/pyotp/" TargetMode="External"/><Relationship Id="rId4" Type="http://schemas.openxmlformats.org/officeDocument/2006/relationships/hyperlink" Target="https://console.groq.com/docs/openai" TargetMode="External"/><Relationship Id="rId9" Type="http://schemas.openxmlformats.org/officeDocument/2006/relationships/hyperlink" Target="https://www.twilio.com/docs/whatsapp" TargetMode="External"/><Relationship Id="rId14" Type="http://schemas.openxmlformats.org/officeDocument/2006/relationships/hyperlink" Target="https://ndrf.gov.in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05185" y="476672"/>
            <a:ext cx="10287000" cy="3886200"/>
          </a:xfrm>
        </p:spPr>
        <p:txBody>
          <a:bodyPr anchor="b">
            <a:normAutofit fontScale="90000"/>
          </a:bodyPr>
          <a:lstStyle/>
          <a:p>
            <a:r>
              <a:rPr lang="en-IN" dirty="0"/>
              <a:t>Autonomous Disaster Response Coordination System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37828" y="4096172"/>
            <a:ext cx="10945216" cy="2141140"/>
          </a:xfrm>
        </p:spPr>
        <p:txBody>
          <a:bodyPr>
            <a:normAutofit fontScale="70000" lnSpcReduction="2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Batch-04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Name – Agent Verse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Mohana Srija-241FA04331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Sai Likhitha-241FA04334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P.Harshitha-241FA04313</a:t>
            </a:r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/>
          <a:p>
            <a:r>
              <a:rPr lang="en-US" dirty="0"/>
              <a:t>Introduction: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7868" y="1484784"/>
            <a:ext cx="9217024" cy="496855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/>
              <a:t>Overview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The Autonomous Disaster Response Coordination System is a web-based platform that uses Artificial Intelligence to manage disaster emergencies in real time. It automates the entire response pipeline — from receiving a disaster report to dispatching resources and alerting the public.</a:t>
            </a:r>
          </a:p>
          <a:p>
            <a:pPr>
              <a:lnSpc>
                <a:spcPct val="150000"/>
              </a:lnSpc>
            </a:pPr>
            <a:r>
              <a:rPr lang="en-US" sz="2000" b="1"/>
              <a:t>Current Challenges: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Emergency teams lack real-time data on disaster severity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Resources (ambulances, rescue teams) are allocated manually without optimization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Citizens have no easy way to send SOS or receive emergency broadcasts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Language barriers prevent effective communication in regional areas</a:t>
            </a:r>
          </a:p>
          <a:p>
            <a:pPr>
              <a:lnSpc>
                <a:spcPct val="150000"/>
              </a:lnSpc>
            </a:pPr>
            <a:endParaRPr lang="en-IN"/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C784-272F-44C5-216A-32455CF16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840" y="1052736"/>
            <a:ext cx="9481120" cy="1235224"/>
          </a:xfrm>
        </p:spPr>
        <p:txBody>
          <a:bodyPr/>
          <a:lstStyle/>
          <a:p>
            <a:r>
              <a:rPr lang="en-US" dirty="0"/>
              <a:t>What Problem Does This Project Solve?</a:t>
            </a:r>
            <a:br>
              <a:rPr lang="en-US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3BDCF-5D95-F57F-84DA-CB48D486B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68" y="2060848"/>
            <a:ext cx="9577064" cy="3960440"/>
          </a:xfrm>
        </p:spPr>
        <p:txBody>
          <a:bodyPr/>
          <a:lstStyle/>
          <a:p>
            <a:pPr marL="33147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Arial Nova" panose="020B0504020202020204" pitchFamily="34" charset="0"/>
              </a:rPr>
              <a:t>When a disaster occurs, three critical questions must be answered immediately:</a:t>
            </a:r>
          </a:p>
          <a:p>
            <a:pPr marL="331470" lvl="0" indent="-285750">
              <a:buFont typeface="Wingdings" panose="05000000000000000000" pitchFamily="2" charset="2"/>
              <a:buChar char="ü"/>
            </a:pPr>
            <a:r>
              <a:rPr lang="en-US" sz="2400" i="1" dirty="0">
                <a:latin typeface="Arial Nova" panose="020B0504020202020204" pitchFamily="34" charset="0"/>
              </a:rPr>
              <a:t>How severe is it?</a:t>
            </a:r>
            <a:r>
              <a:rPr lang="en-US" sz="2400" dirty="0">
                <a:latin typeface="Arial Nova" panose="020B0504020202020204" pitchFamily="34" charset="0"/>
              </a:rPr>
              <a:t> — No automated severity assessment exists</a:t>
            </a:r>
          </a:p>
          <a:p>
            <a:pPr marL="331470" lvl="0" indent="-285750">
              <a:buFont typeface="Wingdings" panose="05000000000000000000" pitchFamily="2" charset="2"/>
              <a:buChar char="ü"/>
            </a:pPr>
            <a:r>
              <a:rPr lang="en-US" sz="2400" i="1" dirty="0">
                <a:latin typeface="Arial Nova" panose="020B0504020202020204" pitchFamily="34" charset="0"/>
              </a:rPr>
              <a:t>What resources should be sent?</a:t>
            </a:r>
            <a:r>
              <a:rPr lang="en-US" sz="2400" dirty="0">
                <a:latin typeface="Arial Nova" panose="020B0504020202020204" pitchFamily="34" charset="0"/>
              </a:rPr>
              <a:t> — Manual allocation wastes time and resources</a:t>
            </a:r>
          </a:p>
          <a:p>
            <a:pPr marL="331470" lvl="0" indent="-285750">
              <a:buFont typeface="Wingdings" panose="05000000000000000000" pitchFamily="2" charset="2"/>
              <a:buChar char="ü"/>
            </a:pPr>
            <a:r>
              <a:rPr lang="en-US" sz="2400" i="1" dirty="0">
                <a:latin typeface="Arial Nova" panose="020B0504020202020204" pitchFamily="34" charset="0"/>
              </a:rPr>
              <a:t>How do we alert people?</a:t>
            </a:r>
            <a:r>
              <a:rPr lang="en-US" sz="2400" dirty="0">
                <a:latin typeface="Arial Nova" panose="020B0504020202020204" pitchFamily="34" charset="0"/>
              </a:rPr>
              <a:t> — No unified alert + communication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8070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14AA1-4998-EE43-A1D3-520A64FD2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15" y="620688"/>
            <a:ext cx="4914900" cy="1447800"/>
          </a:xfrm>
        </p:spPr>
        <p:txBody>
          <a:bodyPr/>
          <a:lstStyle/>
          <a:p>
            <a:r>
              <a:rPr lang="en-IN" dirty="0"/>
              <a:t>Methodology: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B98BE7-6A9A-3519-0736-C6D91BF14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15" y="1700808"/>
            <a:ext cx="9885734" cy="417646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Followed: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Requirement Analysis — Identified key disaster response workflows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System Design — Designed MongoDB schema, Flask blueprints, and agent pipeline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Backend Development — Built 4 AI agents + 13 route modules in Python/Flask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Frontend Development — Responsive UI using Bootstrap 5, Leaflet.js maps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Integration — Connected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(Llama 3),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OpenWeatherMap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API, WhatsApp (Twilio)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Security — Implemented password hashing + OTP-based 2FA7. Testing &amp; Seeding — Used seed_db.py to populate sample data</a:t>
            </a:r>
          </a:p>
        </p:txBody>
      </p:sp>
    </p:spTree>
    <p:extLst>
      <p:ext uri="{BB962C8B-B14F-4D97-AF65-F5344CB8AC3E}">
        <p14:creationId xmlns:p14="http://schemas.microsoft.com/office/powerpoint/2010/main" val="2829180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531" y="908720"/>
            <a:ext cx="4914900" cy="1447800"/>
          </a:xfrm>
        </p:spPr>
        <p:txBody>
          <a:bodyPr>
            <a:normAutofit/>
          </a:bodyPr>
          <a:lstStyle/>
          <a:p>
            <a:r>
              <a:rPr lang="en-US" dirty="0"/>
              <a:t>Tools &amp; Technologies: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1D1C7-0250-310E-600C-FA985A7F7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10636" y="4395203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1" name="Picture Placeholder 20" descr="Charts on a computer monitor">
            <a:extLst>
              <a:ext uri="{FF2B5EF4-FFF2-40B4-BE49-F238E27FC236}">
                <a16:creationId xmlns:a16="http://schemas.microsoft.com/office/drawing/2014/main" id="{E453EF88-26E8-95DB-8E27-6A42911C63F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" b="28"/>
          <a:stretch/>
        </p:blipFill>
        <p:spPr>
          <a:xfrm>
            <a:off x="7045945" y="2057400"/>
            <a:ext cx="4343400" cy="2688336"/>
          </a:xfr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9352A96-B8D8-D164-A11F-7B1EACE80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9250" y="1844824"/>
            <a:ext cx="5189462" cy="4907632"/>
          </a:xfrm>
        </p:spPr>
        <p:txBody>
          <a:bodyPr/>
          <a:lstStyle/>
          <a:p>
            <a:r>
              <a:rPr lang="en-IN" b="1" dirty="0"/>
              <a:t>Programming Languages:</a:t>
            </a:r>
            <a:endParaRPr lang="en-IN" dirty="0"/>
          </a:p>
          <a:p>
            <a:pPr marL="331470" lvl="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3.12 (Backend)</a:t>
            </a:r>
          </a:p>
          <a:p>
            <a:pPr marL="331470" lvl="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HTML5, CSS, JavaScript (Frontend</a:t>
            </a:r>
            <a:r>
              <a:rPr lang="en-IN" dirty="0"/>
              <a:t>)</a:t>
            </a:r>
          </a:p>
          <a:p>
            <a:pPr marL="33147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8139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87EC3-363B-525A-F061-08CC95D38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Frameworks &amp; Libraries:</a:t>
            </a:r>
            <a:b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36FDC7-1948-5212-0FAC-5A0AC0580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743137"/>
              </p:ext>
            </p:extLst>
          </p:nvPr>
        </p:nvGraphicFramePr>
        <p:xfrm>
          <a:off x="1293812" y="1484784"/>
          <a:ext cx="8977065" cy="468052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992355">
                  <a:extLst>
                    <a:ext uri="{9D8B030D-6E8A-4147-A177-3AD203B41FA5}">
                      <a16:colId xmlns:a16="http://schemas.microsoft.com/office/drawing/2014/main" val="1237476968"/>
                    </a:ext>
                  </a:extLst>
                </a:gridCol>
                <a:gridCol w="2992355">
                  <a:extLst>
                    <a:ext uri="{9D8B030D-6E8A-4147-A177-3AD203B41FA5}">
                      <a16:colId xmlns:a16="http://schemas.microsoft.com/office/drawing/2014/main" val="1463044461"/>
                    </a:ext>
                  </a:extLst>
                </a:gridCol>
                <a:gridCol w="2992355">
                  <a:extLst>
                    <a:ext uri="{9D8B030D-6E8A-4147-A177-3AD203B41FA5}">
                      <a16:colId xmlns:a16="http://schemas.microsoft.com/office/drawing/2014/main" val="2458518622"/>
                    </a:ext>
                  </a:extLst>
                </a:gridCol>
              </a:tblGrid>
              <a:tr h="334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84485920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Framework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Flask 3.0.3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routing and templates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83294392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Flask-Login 0.6.3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management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49666206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Werkzeug 3.0.3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 hashing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09949201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/ LLM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Groq API + Llama 3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Disaster analysis, chatbot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65143920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OTP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pyotp 2.9.0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6-digit 2FA codes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65066597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requests 2.34.2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 API calls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57634260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Messaging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Twilio 9.10.9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WhatsApp alerts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46941678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Bootstrap 5.3.2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Responsive design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46842643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Leaflet.js 1.9.4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Interactive incident maps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64252376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Charts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Chart.js 4.4.2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Analytics dashboard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51625200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PDF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jsPDF 2.5.1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 downloads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6975044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Markdown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marked.js 9.1.6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Chatbot formatting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76469372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Voice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Speech API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STT + TTS in chatbot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67088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57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17B39-8948-407E-1D29-B290C2F20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828" y="990600"/>
            <a:ext cx="5687336" cy="391368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(</a:t>
            </a:r>
            <a:r>
              <a:rPr lang="en-IN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PyMongo</a:t>
            </a:r>
            <a: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4.7.3)</a:t>
            </a:r>
            <a:b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APIs:</a:t>
            </a:r>
          </a:p>
          <a:p>
            <a:pPr marL="457200" lvl="0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IN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(Llama 3 8B) — AI intelligence</a:t>
            </a:r>
          </a:p>
          <a:p>
            <a:pPr marL="457200" lvl="0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IN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OpenWeatherMap</a:t>
            </a:r>
            <a: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— Live weather</a:t>
            </a:r>
          </a:p>
          <a:p>
            <a:pPr marL="457200" lvl="0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IN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Nominatim</a:t>
            </a:r>
            <a: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(OpenStreetMap) — Geocoding</a:t>
            </a:r>
          </a:p>
          <a:p>
            <a:pPr marL="457200" lvl="0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Gmail SMTP — OTP email delivery</a:t>
            </a:r>
          </a:p>
          <a:p>
            <a:pPr marL="457200" lvl="0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Twilio WhatsApp — Mass alerts</a:t>
            </a:r>
          </a:p>
          <a:p>
            <a:pPr marL="457200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VS Code, MongoDB Compass, Git, Python pip</a:t>
            </a:r>
          </a:p>
          <a:p>
            <a:pPr>
              <a:lnSpc>
                <a:spcPct val="90000"/>
              </a:lnSpc>
            </a:pPr>
            <a:endParaRPr 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Placeholder 20" descr="Charts on a computer monitor">
            <a:extLst>
              <a:ext uri="{FF2B5EF4-FFF2-40B4-BE49-F238E27FC236}">
                <a16:creationId xmlns:a16="http://schemas.microsoft.com/office/drawing/2014/main" id="{83107CF9-FFDC-17F3-57E7-76E9E610807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2" r="26564" b="-2"/>
          <a:stretch>
            <a:fillRect/>
          </a:stretch>
        </p:blipFill>
        <p:spPr>
          <a:xfrm>
            <a:off x="8119745" y="990600"/>
            <a:ext cx="4069080" cy="4384979"/>
          </a:xfrm>
          <a:noFill/>
        </p:spPr>
      </p:pic>
    </p:spTree>
    <p:extLst>
      <p:ext uri="{BB962C8B-B14F-4D97-AF65-F5344CB8AC3E}">
        <p14:creationId xmlns:p14="http://schemas.microsoft.com/office/powerpoint/2010/main" val="516895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112F6-8EA7-7C4C-F67A-0171CD35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System 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2DC0690-8139-1DBC-2AB1-E37E0A386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556" y="471434"/>
            <a:ext cx="3240360" cy="591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404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3C9846-57C5-4037-5C3C-0EA0F549C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1924" y="908720"/>
            <a:ext cx="6768752" cy="4248472"/>
          </a:xfrm>
        </p:spPr>
        <p:txBody>
          <a:bodyPr>
            <a:normAutofit fontScale="925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System Works: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registers and logs in with OTP 2FA (email)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Submits a disaster report with location and description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4 AI agents fire automatically in sequence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shown on screen + stored in MongoDB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WhatsApp alerts sent to all registered users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updates in real time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300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6E82B-47C9-4D63-ED77-7475D8E8F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Features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7F9951B-0BF1-9778-15B3-A06CEB6C75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8080407"/>
              </p:ext>
            </p:extLst>
          </p:nvPr>
        </p:nvGraphicFramePr>
        <p:xfrm>
          <a:off x="6526460" y="908720"/>
          <a:ext cx="5040560" cy="551192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421972">
                  <a:extLst>
                    <a:ext uri="{9D8B030D-6E8A-4147-A177-3AD203B41FA5}">
                      <a16:colId xmlns:a16="http://schemas.microsoft.com/office/drawing/2014/main" val="784619655"/>
                    </a:ext>
                  </a:extLst>
                </a:gridCol>
                <a:gridCol w="2618588">
                  <a:extLst>
                    <a:ext uri="{9D8B030D-6E8A-4147-A177-3AD203B41FA5}">
                      <a16:colId xmlns:a16="http://schemas.microsoft.com/office/drawing/2014/main" val="4088773661"/>
                    </a:ext>
                  </a:extLst>
                </a:gridCol>
              </a:tblGrid>
              <a:tr h="4593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L="4512" marR="4512" marT="4512" marB="451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4512" marR="4512" marT="4512" marB="4512" anchor="ctr"/>
                </a:tc>
                <a:extLst>
                  <a:ext uri="{0D108BD9-81ED-4DB2-BD59-A6C34878D82A}">
                    <a16:rowId xmlns:a16="http://schemas.microsoft.com/office/drawing/2014/main" val="2998557303"/>
                  </a:ext>
                </a:extLst>
              </a:tr>
              <a:tr h="4593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🔐 Secure Login</a:t>
                      </a:r>
                    </a:p>
                  </a:txBody>
                  <a:tcPr marL="4512" marR="4512" marT="4512" marB="451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Username + password + 6-digit OTP via Gmail</a:t>
                      </a:r>
                    </a:p>
                  </a:txBody>
                  <a:tcPr marL="4512" marR="4512" marT="4512" marB="4512" anchor="ctr"/>
                </a:tc>
                <a:extLst>
                  <a:ext uri="{0D108BD9-81ED-4DB2-BD59-A6C34878D82A}">
                    <a16:rowId xmlns:a16="http://schemas.microsoft.com/office/drawing/2014/main" val="478923635"/>
                  </a:ext>
                </a:extLst>
              </a:tr>
              <a:tr h="4593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🤖 4 AI Agents</a:t>
                      </a:r>
                    </a:p>
                  </a:txBody>
                  <a:tcPr marL="4512" marR="4512" marT="4512" marB="451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 → Allocation → Route → Alert pipeline</a:t>
                      </a:r>
                    </a:p>
                  </a:txBody>
                  <a:tcPr marL="4512" marR="4512" marT="4512" marB="4512" anchor="ctr"/>
                </a:tc>
                <a:extLst>
                  <a:ext uri="{0D108BD9-81ED-4DB2-BD59-A6C34878D82A}">
                    <a16:rowId xmlns:a16="http://schemas.microsoft.com/office/drawing/2014/main" val="3943019472"/>
                  </a:ext>
                </a:extLst>
              </a:tr>
              <a:tr h="4593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🗺️ Live Map</a:t>
                      </a:r>
                    </a:p>
                  </a:txBody>
                  <a:tcPr marL="4512" marR="4512" marT="4512" marB="451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Leaflet.js map with all disaster incidents and SOS pins</a:t>
                      </a:r>
                    </a:p>
                  </a:txBody>
                  <a:tcPr marL="4512" marR="4512" marT="4512" marB="4512" anchor="ctr"/>
                </a:tc>
                <a:extLst>
                  <a:ext uri="{0D108BD9-81ED-4DB2-BD59-A6C34878D82A}">
                    <a16:rowId xmlns:a16="http://schemas.microsoft.com/office/drawing/2014/main" val="3645574673"/>
                  </a:ext>
                </a:extLst>
              </a:tr>
              <a:tr h="4593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🆘 SOS Alerts</a:t>
                      </a:r>
                    </a:p>
                  </a:txBody>
                  <a:tcPr marL="4512" marR="4512" marT="4512" marB="451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One-click emergency alert with WhatsApp notification</a:t>
                      </a:r>
                    </a:p>
                  </a:txBody>
                  <a:tcPr marL="4512" marR="4512" marT="4512" marB="4512" anchor="ctr"/>
                </a:tc>
                <a:extLst>
                  <a:ext uri="{0D108BD9-81ED-4DB2-BD59-A6C34878D82A}">
                    <a16:rowId xmlns:a16="http://schemas.microsoft.com/office/drawing/2014/main" val="78093434"/>
                  </a:ext>
                </a:extLst>
              </a:tr>
              <a:tr h="4593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🌤️ Weather Monitor</a:t>
                      </a:r>
                    </a:p>
                  </a:txBody>
                  <a:tcPr marL="4512" marR="4512" marT="4512" marB="451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 weather + 7-day forecast + disaster risk assessment</a:t>
                      </a:r>
                    </a:p>
                  </a:txBody>
                  <a:tcPr marL="4512" marR="4512" marT="4512" marB="4512" anchor="ctr"/>
                </a:tc>
                <a:extLst>
                  <a:ext uri="{0D108BD9-81ED-4DB2-BD59-A6C34878D82A}">
                    <a16:rowId xmlns:a16="http://schemas.microsoft.com/office/drawing/2014/main" val="3334809543"/>
                  </a:ext>
                </a:extLst>
              </a:tr>
              <a:tr h="4593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🤖 ARIA Chatbot</a:t>
                      </a:r>
                    </a:p>
                  </a:txBody>
                  <a:tcPr marL="4512" marR="4512" marT="4512" marB="451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assistant in English and Telugu with voice support</a:t>
                      </a:r>
                    </a:p>
                  </a:txBody>
                  <a:tcPr marL="4512" marR="4512" marT="4512" marB="4512" anchor="ctr"/>
                </a:tc>
                <a:extLst>
                  <a:ext uri="{0D108BD9-81ED-4DB2-BD59-A6C34878D82A}">
                    <a16:rowId xmlns:a16="http://schemas.microsoft.com/office/drawing/2014/main" val="3488631646"/>
                  </a:ext>
                </a:extLst>
              </a:tr>
              <a:tr h="4593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📊 Analytics</a:t>
                      </a:r>
                    </a:p>
                  </a:txBody>
                  <a:tcPr marL="4512" marR="4512" marT="4512" marB="451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Charts for severity, disaster types, resource usage</a:t>
                      </a:r>
                    </a:p>
                  </a:txBody>
                  <a:tcPr marL="4512" marR="4512" marT="4512" marB="4512" anchor="ctr"/>
                </a:tc>
                <a:extLst>
                  <a:ext uri="{0D108BD9-81ED-4DB2-BD59-A6C34878D82A}">
                    <a16:rowId xmlns:a16="http://schemas.microsoft.com/office/drawing/2014/main" val="1158804242"/>
                  </a:ext>
                </a:extLst>
              </a:tr>
              <a:tr h="4593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🙋 Volunteers</a:t>
                      </a:r>
                    </a:p>
                  </a:txBody>
                  <a:tcPr marL="4512" marR="4512" marT="4512" marB="451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Register, manage skills, deploy to disaster sites</a:t>
                      </a:r>
                    </a:p>
                  </a:txBody>
                  <a:tcPr marL="4512" marR="4512" marT="4512" marB="4512" anchor="ctr"/>
                </a:tc>
                <a:extLst>
                  <a:ext uri="{0D108BD9-81ED-4DB2-BD59-A6C34878D82A}">
                    <a16:rowId xmlns:a16="http://schemas.microsoft.com/office/drawing/2014/main" val="2530588165"/>
                  </a:ext>
                </a:extLst>
              </a:tr>
              <a:tr h="4593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📢 Broadcast</a:t>
                      </a:r>
                    </a:p>
                  </a:txBody>
                  <a:tcPr marL="4512" marR="4512" marT="4512" marB="451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Mass notifications with WhatsApp delivery</a:t>
                      </a:r>
                    </a:p>
                  </a:txBody>
                  <a:tcPr marL="4512" marR="4512" marT="4512" marB="4512" anchor="ctr"/>
                </a:tc>
                <a:extLst>
                  <a:ext uri="{0D108BD9-81ED-4DB2-BD59-A6C34878D82A}">
                    <a16:rowId xmlns:a16="http://schemas.microsoft.com/office/drawing/2014/main" val="1232153118"/>
                  </a:ext>
                </a:extLst>
              </a:tr>
              <a:tr h="4593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📄 PDF Reports</a:t>
                      </a:r>
                    </a:p>
                  </a:txBody>
                  <a:tcPr marL="4512" marR="4512" marT="4512" marB="451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Download disaster analysis reports as PDF</a:t>
                      </a:r>
                    </a:p>
                  </a:txBody>
                  <a:tcPr marL="4512" marR="4512" marT="4512" marB="4512" anchor="ctr"/>
                </a:tc>
                <a:extLst>
                  <a:ext uri="{0D108BD9-81ED-4DB2-BD59-A6C34878D82A}">
                    <a16:rowId xmlns:a16="http://schemas.microsoft.com/office/drawing/2014/main" val="520396672"/>
                  </a:ext>
                </a:extLst>
              </a:tr>
              <a:tr h="4593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🔊 SOS Sound</a:t>
                      </a:r>
                    </a:p>
                  </a:txBody>
                  <a:tcPr marL="4512" marR="4512" marT="4512" marB="451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Emergency siren plays on SOS submission</a:t>
                      </a:r>
                    </a:p>
                  </a:txBody>
                  <a:tcPr marL="4512" marR="4512" marT="4512" marB="4512" anchor="ctr"/>
                </a:tc>
                <a:extLst>
                  <a:ext uri="{0D108BD9-81ED-4DB2-BD59-A6C34878D82A}">
                    <a16:rowId xmlns:a16="http://schemas.microsoft.com/office/drawing/2014/main" val="2396221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1016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62FC8-47C9-938C-4177-05A010926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876" y="836712"/>
            <a:ext cx="8640960" cy="4968551"/>
          </a:xfrm>
        </p:spPr>
        <p:txBody>
          <a:bodyPr>
            <a:normAutofit fontScale="92500" lnSpcReduction="10000"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Benefits: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can report disasters and send SOS from any device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Coordinators get instant AI analysis without manual assessment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are allocated automatically — no spreadsheets needed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Everyone receives WhatsApp alerts without installing any app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Features: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speaks and understands both English and Telugu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Voice-to-Voice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speak a question, hear the answer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fallback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rule-based AI works even without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key</a:t>
            </a:r>
          </a:p>
          <a:p>
            <a:pPr marL="331470" lvl="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badge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SOS count updates every 20 seconds in the navbar</a:t>
            </a:r>
          </a:p>
        </p:txBody>
      </p:sp>
    </p:spTree>
    <p:extLst>
      <p:ext uri="{BB962C8B-B14F-4D97-AF65-F5344CB8AC3E}">
        <p14:creationId xmlns:p14="http://schemas.microsoft.com/office/powerpoint/2010/main" val="3297548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3AE9C6-3A5C-CB2D-948F-563E202856D3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72" y="1556792"/>
            <a:ext cx="5594384" cy="43204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440AD9-3DF8-C7E4-31B1-93C070DAC8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999" y="1556792"/>
            <a:ext cx="5679082" cy="4320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A2AC53-55E2-109B-D70A-95A1EFC9F48F}"/>
              </a:ext>
            </a:extLst>
          </p:cNvPr>
          <p:cNvSpPr txBox="1"/>
          <p:nvPr/>
        </p:nvSpPr>
        <p:spPr>
          <a:xfrm>
            <a:off x="693812" y="539099"/>
            <a:ext cx="1872208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F4596F-6487-C753-CEAD-EE430066A4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092" y="147681"/>
            <a:ext cx="6473548" cy="30939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CD671B-DCE4-CCF9-02CE-E406534B61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092" y="3392747"/>
            <a:ext cx="6473549" cy="334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238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E5ACFAC-8DAE-69AD-FD61-49C28926CD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781" y="188639"/>
            <a:ext cx="6755262" cy="26638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37ABE1-E450-B38B-A785-DA9892D612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781" y="2996952"/>
            <a:ext cx="6755262" cy="351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863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A6308D4-9E61-5576-DF66-DE0414340D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75" y="406054"/>
            <a:ext cx="4958898" cy="25857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75A918-E496-FEE8-CA6F-98B1B2E675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452" y="397521"/>
            <a:ext cx="4979262" cy="25857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047F50-55D1-03EB-6CAA-027879E008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31" y="3784312"/>
            <a:ext cx="5125816" cy="26674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78A50C-577B-3AE1-2402-39F343C5C85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460" y="3784312"/>
            <a:ext cx="5100889" cy="266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619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4F20B5-52C9-C3BA-9D14-23BFDC6EF8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70" y="332657"/>
            <a:ext cx="5488642" cy="2880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FA1260-EA52-B1FD-A0EF-DF65113B19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641" y="332657"/>
            <a:ext cx="5374333" cy="28149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393C20-64CA-23F6-9259-6D165DB02D2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70" y="3645024"/>
            <a:ext cx="5488642" cy="2948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9C2331-3D86-6615-2745-588665977D2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636" y="3645024"/>
            <a:ext cx="5613460" cy="294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785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9647FA-E9E8-BF00-D370-E2F4EDD352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72" y="260647"/>
            <a:ext cx="5291754" cy="27439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F50F23-4606-D91F-454C-9AC4B404E6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420" y="260648"/>
            <a:ext cx="5260201" cy="27439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327E72-5B3D-EE49-9616-3840773655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81" y="3526460"/>
            <a:ext cx="5214868" cy="27216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6D9E31-662A-B007-A362-0F728A27753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12" y="3515658"/>
            <a:ext cx="5401300" cy="280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78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AA7C00E-057A-F0C2-A947-D61654BB57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052" y="22500"/>
            <a:ext cx="6284886" cy="32624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E995B2-C1A5-F8F9-F072-C33C37B11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472" y="3717032"/>
            <a:ext cx="6428364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4832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836712"/>
            <a:ext cx="9481120" cy="5716488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Key Points:</a:t>
            </a:r>
          </a:p>
          <a:p>
            <a:pPr marL="33147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full-stack disaster response platform with Python/Flask and MongoDB- Integrated 4 autonomous AI agents that work in a pipeline: analyze → allocate → route → alert</a:t>
            </a:r>
          </a:p>
          <a:p>
            <a:pPr marL="33147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real-world communication channels: WhatsApp SOS, mass broadcasts, weather warnings</a:t>
            </a:r>
          </a:p>
          <a:p>
            <a:pPr marL="33147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Delivered a bilingual AI chatbot (ARIA) with emergency guidance in English and Telugu </a:t>
            </a:r>
          </a:p>
          <a:p>
            <a:pPr marL="33147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Secured the system with OTP-based two-factor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566262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4A9E6-FBB5-04F5-9B97-BD8B74923DC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1824" y="332656"/>
            <a:ext cx="10837204" cy="6120680"/>
          </a:xfrm>
        </p:spPr>
        <p:txBody>
          <a:bodyPr>
            <a:normAutofit fontScale="92500" lnSpcReduction="10000"/>
          </a:bodyPr>
          <a:lstStyle/>
          <a:p>
            <a:r>
              <a:rPr lang="en-US" sz="1600" b="1" dirty="0"/>
              <a:t> </a:t>
            </a:r>
            <a:r>
              <a:rPr lang="en-US" sz="2000" b="1" dirty="0"/>
              <a:t>References:</a:t>
            </a:r>
            <a:endParaRPr lang="en-US" sz="1600" b="1" dirty="0"/>
          </a:p>
          <a:p>
            <a:pPr marL="388620" lvl="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Documentation — </a:t>
            </a:r>
            <a:r>
              <a:rPr lang="en-IN" sz="11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https://flask.palletsprojects.com/en/3.0.x/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8620" lvl="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PyMongo Documentation — </a:t>
            </a:r>
            <a:r>
              <a:rPr lang="en-IN" sz="11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https://pymongo.readthedocs.io/en/stable/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8620" lvl="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Groq API Documentation — </a:t>
            </a:r>
            <a:r>
              <a:rPr lang="en-IN" sz="11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https://console.groq.com/docs/openai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8620" lvl="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 Llama 3 Model — </a:t>
            </a:r>
            <a:r>
              <a:rPr lang="en-IN" sz="11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https://llama.meta.com/llama3/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8620" lvl="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OpenWeatherMap API — </a:t>
            </a:r>
            <a:r>
              <a:rPr lang="en-IN" sz="11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https://openweathermap.org/api/one-call-3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8620" lvl="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Leaflet.js Documentation — </a:t>
            </a:r>
            <a:r>
              <a:rPr lang="en-IN" sz="11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https://leafletjs.com/reference.html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8620" lvl="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5 Documentation — </a:t>
            </a:r>
            <a:r>
              <a:rPr lang="en-IN" sz="11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https://getbootstrap.com/docs/5.3/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8620" lvl="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Twilio WhatsApp API — </a:t>
            </a:r>
            <a:r>
              <a:rPr lang="en-IN" sz="11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https://www.twilio.com/docs/whatsapp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8620" lvl="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pyotp Library — </a:t>
            </a:r>
            <a:r>
              <a:rPr lang="en-IN" sz="11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https://pyauth.github.io/pyotp/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8620" lvl="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Chart.js Documentation — </a:t>
            </a:r>
            <a:r>
              <a:rPr lang="en-IN" sz="11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https://www.chartjs.org/docs/latest/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8620" lvl="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jsPDF Documentation — </a:t>
            </a:r>
            <a:r>
              <a:rPr lang="en-IN" sz="11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12"/>
              </a:rPr>
              <a:t>https://artskydj.github.io/jsPDF/docs/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8620" lvl="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Speech API — </a:t>
            </a:r>
            <a:r>
              <a:rPr lang="en-IN" sz="11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13"/>
              </a:rPr>
              <a:t>https://developer.mozilla.org/en-US/docs/Web/API/Web_Speech_API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8620" lvl="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NDRF India — </a:t>
            </a:r>
            <a:r>
              <a:rPr lang="en-IN" sz="11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14"/>
              </a:rPr>
              <a:t>https://ndrf.gov.in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8620" lvl="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Disaster Management Authority — </a:t>
            </a:r>
            <a:r>
              <a:rPr lang="en-IN" sz="11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15"/>
              </a:rPr>
              <a:t>https://ndma.gov.in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buFont typeface="Wingdings" panose="05000000000000000000" pitchFamily="2" charset="2"/>
              <a:buChar char="§"/>
            </a:pPr>
            <a:endParaRPr lang="en-IN" sz="1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BD67D2-CDB1-A361-76C0-52E7BC750EDD}"/>
              </a:ext>
            </a:extLst>
          </p:cNvPr>
          <p:cNvSpPr txBox="1"/>
          <p:nvPr/>
        </p:nvSpPr>
        <p:spPr>
          <a:xfrm>
            <a:off x="7102524" y="2798058"/>
            <a:ext cx="4140461" cy="126188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Hub Link:</a:t>
            </a:r>
          </a:p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https://github.com/purammohanasrija-arch/Autonomous-Disaster-Response-Coordination-System</a:t>
            </a:r>
          </a:p>
        </p:txBody>
      </p:sp>
    </p:spTree>
    <p:extLst>
      <p:ext uri="{BB962C8B-B14F-4D97-AF65-F5344CB8AC3E}">
        <p14:creationId xmlns:p14="http://schemas.microsoft.com/office/powerpoint/2010/main" val="1809835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9D430-33D2-22CE-089E-EEF766F78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2244" y="2852936"/>
            <a:ext cx="4914900" cy="144780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4260750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7.potx" id="{B4376E67-A46A-4922-AE0D-3354FC109E20}" vid="{F49CC2A7-BC98-4F28-8A83-D1D23E8024B9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{72B0219D-C4CB-4057-8F2A-F5B99BFD97FD}TFf1460845-8e07-4b92-9183-e15be13008a218dbe6a5_win32-cc1095971745</Template>
  <TotalTime>217</TotalTime>
  <Words>1009</Words>
  <Application>Microsoft Office PowerPoint</Application>
  <PresentationFormat>Custom</PresentationFormat>
  <Paragraphs>153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Arial Nova</vt:lpstr>
      <vt:lpstr>Calibri</vt:lpstr>
      <vt:lpstr>Century Gothic</vt:lpstr>
      <vt:lpstr>Palatino Linotype</vt:lpstr>
      <vt:lpstr>Times New Roman</vt:lpstr>
      <vt:lpstr>Wingdings</vt:lpstr>
      <vt:lpstr>Custom</vt:lpstr>
      <vt:lpstr>Autonomous Disaster Response Coordination System </vt:lpstr>
      <vt:lpstr>Introduction:</vt:lpstr>
      <vt:lpstr>What Problem Does This Project Solve? </vt:lpstr>
      <vt:lpstr>Methodology:</vt:lpstr>
      <vt:lpstr>Tools &amp; Technologies:</vt:lpstr>
      <vt:lpstr>Frameworks &amp; Libraries: </vt:lpstr>
      <vt:lpstr>Database: MongoDB (PyMongo 4.7.3)  External APIs: Groq API (Llama 3 8B) — AI intelligence OpenWeatherMap API — Live weather Nominatim (OpenStreetMap) — Geocoding Gmail SMTP — OTP email delivery Twilio WhatsApp — Mass alerts Tools: VS Code, MongoDB Compass, Git, Python pip </vt:lpstr>
      <vt:lpstr>System Architecture</vt:lpstr>
      <vt:lpstr>PowerPoint Presentation</vt:lpstr>
      <vt:lpstr>Features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Likhitha</dc:creator>
  <cp:lastModifiedBy>Puram Sd</cp:lastModifiedBy>
  <cp:revision>3</cp:revision>
  <dcterms:created xsi:type="dcterms:W3CDTF">2026-06-01T16:00:07Z</dcterms:created>
  <dcterms:modified xsi:type="dcterms:W3CDTF">2026-06-02T04:23:47Z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